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 showGuides="1">
      <p:cViewPr varScale="1">
        <p:scale>
          <a:sx n="98" d="100"/>
          <a:sy n="98" d="100"/>
        </p:scale>
        <p:origin x="82" y="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/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/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/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/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/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/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/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5"/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465" indent="-164465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/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/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10D11C-0C9A-A791-4947-46F25DC80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48492"/>
            <a:ext cx="11895015" cy="654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25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               </a:t>
            </a:r>
            <a:br>
              <a:rPr lang="en-US" sz="3600" dirty="0"/>
            </a:br>
            <a:r>
              <a:rPr lang="en-US" sz="3600" dirty="0"/>
              <a:t>     </a:t>
            </a:r>
            <a:br>
              <a:rPr lang="en-US" sz="3600" dirty="0"/>
            </a:br>
            <a:r>
              <a:rPr lang="en-US" sz="3600" dirty="0"/>
              <a:t>       </a:t>
            </a:r>
            <a:br>
              <a:rPr lang="en-US" sz="3600" dirty="0"/>
            </a:br>
            <a:r>
              <a:rPr lang="en-US" sz="3600" dirty="0"/>
              <a:t>          </a:t>
            </a:r>
            <a:br>
              <a:rPr lang="en-US" sz="3600" dirty="0"/>
            </a:br>
            <a:r>
              <a:rPr lang="en-IN" altLang="en-US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TECHNICAL PRESENTATION</a:t>
            </a:r>
            <a:br>
              <a:rPr lang="en-US" sz="3600" dirty="0">
                <a:solidFill>
                  <a:srgbClr val="FF0000"/>
                </a:solidFill>
              </a:rPr>
            </a:br>
            <a:br>
              <a:rPr lang="en-US" sz="3600" dirty="0"/>
            </a:br>
            <a:r>
              <a:rPr lang="en-US" sz="3600" dirty="0"/>
              <a:t>                                </a:t>
            </a:r>
            <a:br>
              <a:rPr lang="en-US" sz="3600" dirty="0"/>
            </a:br>
            <a:r>
              <a:rPr lang="en-US" sz="3600" dirty="0"/>
              <a:t> </a:t>
            </a:r>
            <a:r>
              <a:rPr lang="en-US" sz="3600" b="1" dirty="0"/>
              <a:t> </a:t>
            </a:r>
            <a:r>
              <a:rPr lang="en-IN" altLang="en-US" sz="3600" b="1" dirty="0"/>
              <a:t>CLOUD STORAGE TECHNOLOGIES </a:t>
            </a:r>
            <a:br>
              <a:rPr lang="en-US" sz="3600" b="1" dirty="0"/>
            </a:br>
            <a:br>
              <a:rPr lang="en-US" sz="3600" dirty="0"/>
            </a:br>
            <a:r>
              <a:rPr lang="en-US" altLang="zh-CN" sz="3600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+mn-ea"/>
              </a:rPr>
              <a:t>CSA1</a:t>
            </a:r>
            <a:r>
              <a:rPr lang="en-IN" altLang="en-US" sz="3600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+mn-ea"/>
              </a:rPr>
              <a:t>516 -CLOUD COMPUTING AND BIG DATA  ANALYTICS </a:t>
            </a:r>
            <a:br>
              <a:rPr lang="en-IN" altLang="en-US" sz="3600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+mn-ea"/>
              </a:rPr>
            </a:br>
            <a:br>
              <a:rPr lang="en-IN" altLang="en-US" sz="3600"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  <a:sym typeface="+mn-ea"/>
              </a:rPr>
            </a:br>
            <a:r>
              <a:rPr lang="en-IN" altLang="en-US" sz="3600" b="1" dirty="0"/>
              <a:t>COURSE CODE</a:t>
            </a:r>
            <a:r>
              <a:rPr lang="en-US" sz="3600" dirty="0"/>
              <a:t>: CSA1516 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                   </a:t>
            </a:r>
            <a:endParaRPr lang="en-IN" sz="2000" dirty="0"/>
          </a:p>
        </p:txBody>
      </p:sp>
      <p:pic>
        <p:nvPicPr>
          <p:cNvPr id="3" name="Image 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9565" y="270510"/>
            <a:ext cx="8628380" cy="9677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138795" y="4858385"/>
            <a:ext cx="405320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+mn-ea"/>
              </a:rPr>
              <a:t> </a:t>
            </a:r>
          </a:p>
          <a:p>
            <a:r>
              <a:rPr lang="en-US" dirty="0">
                <a:sym typeface="+mn-ea"/>
              </a:rPr>
              <a:t>NAME : ESHANTH REDDY.O </a:t>
            </a:r>
            <a:br>
              <a:rPr lang="en-US">
                <a:sym typeface="+mn-ea"/>
              </a:rPr>
            </a:br>
            <a:r>
              <a:rPr lang="en-US">
                <a:sym typeface="+mn-ea"/>
              </a:rPr>
              <a:t> </a:t>
            </a:r>
          </a:p>
          <a:p>
            <a:r>
              <a:rPr lang="en-US">
                <a:sym typeface="+mn-ea"/>
              </a:rPr>
              <a:t> REG </a:t>
            </a:r>
            <a:r>
              <a:rPr lang="en-US" dirty="0">
                <a:sym typeface="+mn-ea"/>
              </a:rPr>
              <a:t>NO : 1924260199</a:t>
            </a:r>
            <a:br>
              <a:rPr lang="en-US">
                <a:sym typeface="+mn-ea"/>
              </a:rPr>
            </a:br>
            <a:r>
              <a:rPr lang="en-US">
                <a:sym typeface="+mn-ea"/>
              </a:rPr>
              <a:t>  </a:t>
            </a:r>
          </a:p>
          <a:p>
            <a:r>
              <a:rPr lang="en-US">
                <a:sym typeface="+mn-ea"/>
              </a:rPr>
              <a:t> DEPT </a:t>
            </a:r>
            <a:r>
              <a:rPr lang="en-US" dirty="0">
                <a:sym typeface="+mn-ea"/>
              </a:rPr>
              <a:t>: AI DS</a:t>
            </a:r>
            <a:endParaRPr lang="en-IN" dirty="0"/>
          </a:p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708660" y="5243195"/>
            <a:ext cx="383857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Guided by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</a:p>
          <a:p>
            <a:endParaRPr lang="en-IN" altLang="en-US" dirty="0"/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Dr.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Boomija .MD </a:t>
            </a:r>
          </a:p>
          <a:p>
            <a:endParaRPr lang="en-US" sz="20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62743"/>
                </a:solidFill>
                <a:latin typeface="Aptos"/>
              </a:defRPr>
            </a:pPr>
            <a:r>
              <a:t>1. What is cloud storage?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777240" cy="54864"/>
          </a:xfrm>
          <a:prstGeom prst="rect">
            <a:avLst/>
          </a:prstGeom>
          <a:solidFill>
            <a:srgbClr val="1C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37080"/>
                </a:solidFill>
                <a:latin typeface="Aptos"/>
              </a:defRPr>
            </a:pPr>
            <a:r>
              <a:t>Storing data on remote infrastructure accessed through a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370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•  Cloud storage keeps files and application data on provider-managed servers.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•  Users access data through the internet or a private network.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•  Capacity can scale up or down without buying physical disks.</a:t>
            </a:r>
          </a:p>
          <a:p>
            <a:pPr>
              <a:spcAft>
                <a:spcPts val="1500"/>
              </a:spcAft>
              <a:defRPr sz="1900">
                <a:solidFill>
                  <a:srgbClr val="2B3441"/>
                </a:solidFill>
                <a:latin typeface="Aptos"/>
              </a:defRPr>
            </a:pPr>
            <a:r>
              <a:t>•  Common benefits: availability, durability, flexible capacity, and pay-as-you-use pricing.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965960"/>
            <a:ext cx="3474720" cy="11430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0" y="1965960"/>
            <a:ext cx="82296" cy="1143000"/>
          </a:xfrm>
          <a:prstGeom prst="rect">
            <a:avLst/>
          </a:prstGeom>
          <a:solidFill>
            <a:srgbClr val="1C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82128" y="213055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62743"/>
                </a:solidFill>
                <a:latin typeface="Aptos"/>
              </a:defRPr>
            </a:pPr>
            <a:r>
              <a:t>Think of it 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8" y="2578608"/>
            <a:ext cx="3090672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2B3441"/>
                </a:solidFill>
                <a:latin typeface="Aptos"/>
              </a:defRPr>
            </a:pPr>
            <a:r>
              <a:t>A secure, expandable digital store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429000"/>
            <a:ext cx="347472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3429000"/>
            <a:ext cx="82296" cy="132588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2128" y="359359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62743"/>
                </a:solidFill>
                <a:latin typeface="Aptos"/>
              </a:defRPr>
            </a:pPr>
            <a:r>
              <a:t>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4041648"/>
            <a:ext cx="309067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2B3441"/>
                </a:solidFill>
                <a:latin typeface="Aptos"/>
              </a:defRPr>
            </a:pPr>
            <a:r>
              <a:t>Backups, photos, website files, databases, and virtual machines.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97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C9691"/>
                </a:solidFill>
                <a:latin typeface="Aptos"/>
              </a:defRPr>
            </a:pPr>
            <a:r>
              <a:t>Key idea: different workloads need different storage designs.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62743"/>
                </a:solidFill>
                <a:latin typeface="Aptos"/>
              </a:defRPr>
            </a:pPr>
            <a:r>
              <a:t>2. The three main storage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777240" cy="54864"/>
          </a:xfrm>
          <a:prstGeom prst="rect">
            <a:avLst/>
          </a:prstGeom>
          <a:solidFill>
            <a:srgbClr val="1C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37080"/>
                </a:solidFill>
                <a:latin typeface="Aptos"/>
              </a:defRPr>
            </a:pPr>
            <a:r>
              <a:t>They differ in how data is organized and accessed.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370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32461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82296" cy="3246120"/>
          </a:xfrm>
          <a:prstGeom prst="rect">
            <a:avLst/>
          </a:prstGeom>
          <a:solidFill>
            <a:srgbClr val="1C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1">
                <a:solidFill>
                  <a:srgbClr val="162743"/>
                </a:solidFill>
                <a:latin typeface="Aptos"/>
              </a:defRPr>
            </a:pPr>
            <a:r>
              <a:t>OBJECT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3136392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t>Stores data as objects: the data, metadata, and a unique ID.</a:t>
            </a:r>
            <a:br/>
            <a:br/>
            <a:r>
              <a:t>Best for: photos, videos, backups, logs, and website assets.</a:t>
            </a:r>
            <a:br/>
            <a:br/>
            <a:r>
              <a:t>Example: Amazon S3 or Azure Blob 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32461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82296" cy="324612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1">
                <a:solidFill>
                  <a:srgbClr val="162743"/>
                </a:solidFill>
                <a:latin typeface="Aptos"/>
              </a:defRPr>
            </a:pPr>
            <a:r>
              <a:t>BLOCK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41448"/>
            <a:ext cx="3136392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t>Splits data into fixed-size blocks presented like a disk to a server.</a:t>
            </a:r>
            <a:br/>
            <a:br/>
            <a:r>
              <a:t>Best for: virtual machine disks and high-performance databases.</a:t>
            </a:r>
            <a:br/>
            <a:br/>
            <a:r>
              <a:t>Example: Amazon EBS or Azure Managed Disks.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520440" cy="32461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82296" cy="3246120"/>
          </a:xfrm>
          <a:prstGeom prst="rect">
            <a:avLst/>
          </a:prstGeom>
          <a:solidFill>
            <a:srgbClr val="F2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933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1">
                <a:solidFill>
                  <a:srgbClr val="162743"/>
                </a:solidFill>
                <a:latin typeface="Aptos"/>
              </a:defRPr>
            </a:pPr>
            <a:r>
              <a:t>FILE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41448"/>
            <a:ext cx="3136392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t>Organizes data in folders and files using paths.</a:t>
            </a:r>
            <a:br/>
            <a:br/>
            <a:r>
              <a:t>Best for: shared team folders, home directories, and legacy apps.</a:t>
            </a:r>
            <a:br/>
            <a:br/>
            <a:r>
              <a:t>Example: Amazon EFS or Azure Files.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62743"/>
                </a:solidFill>
                <a:latin typeface="Aptos"/>
              </a:defRPr>
            </a:pPr>
            <a:r>
              <a:t>Memory tip: objects = content; blocks = disk; files = folders.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62743"/>
                </a:solidFill>
                <a:latin typeface="Aptos"/>
              </a:defRPr>
            </a:pPr>
            <a:r>
              <a:t>3. How cloud storage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777240" cy="54864"/>
          </a:xfrm>
          <a:prstGeom prst="rect">
            <a:avLst/>
          </a:prstGeom>
          <a:solidFill>
            <a:srgbClr val="1C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37080"/>
                </a:solidFill>
                <a:latin typeface="Aptos"/>
              </a:defRPr>
            </a:pPr>
            <a:r>
              <a:t>A simple view of the data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370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14884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82296" cy="132588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62743"/>
                </a:solidFill>
                <a:latin typeface="Aptos"/>
              </a:defRPr>
            </a:pPr>
            <a:r>
              <a:t>1. User /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52928"/>
            <a:ext cx="176479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2B3441"/>
                </a:solidFill>
                <a:latin typeface="Aptos"/>
              </a:defRPr>
            </a:pPr>
            <a:r>
              <a:t>Uploads or requests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240280"/>
            <a:ext cx="22402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0" y="2240280"/>
            <a:ext cx="82296" cy="1325880"/>
          </a:xfrm>
          <a:prstGeom prst="rect">
            <a:avLst/>
          </a:prstGeom>
          <a:solidFill>
            <a:srgbClr val="1C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58768" y="2404872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62743"/>
                </a:solidFill>
                <a:latin typeface="Aptos"/>
              </a:defRPr>
            </a:pPr>
            <a:r>
              <a:rPr dirty="0"/>
              <a:t>2. Network +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2852928"/>
            <a:ext cx="185623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2B3441"/>
                </a:solidFill>
                <a:latin typeface="Aptos"/>
              </a:defRPr>
            </a:pPr>
            <a:r>
              <a:t>Secure request travels to the cloud.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240280"/>
            <a:ext cx="20116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2240280"/>
            <a:ext cx="82296" cy="1325880"/>
          </a:xfrm>
          <a:prstGeom prst="rect">
            <a:avLst/>
          </a:prstGeom>
          <a:solidFill>
            <a:srgbClr val="F2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76288" y="2404872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62743"/>
                </a:solidFill>
                <a:latin typeface="Aptos"/>
              </a:defRPr>
            </a:pPr>
            <a:r>
              <a:t>3. Storage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852928"/>
            <a:ext cx="162763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2B3441"/>
                </a:solidFill>
                <a:latin typeface="Aptos"/>
              </a:defRPr>
            </a:pPr>
            <a:r>
              <a:t>Chooses object, block, or 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240280"/>
            <a:ext cx="20116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2600" y="2240280"/>
            <a:ext cx="82296" cy="1325880"/>
          </a:xfrm>
          <a:prstGeom prst="rect">
            <a:avLst/>
          </a:prstGeom>
          <a:solidFill>
            <a:srgbClr val="4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73768" y="2404872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62743"/>
                </a:solidFill>
                <a:latin typeface="Aptos"/>
              </a:defRPr>
            </a:pPr>
            <a:r>
              <a:t>4. Data returned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8" y="2852928"/>
            <a:ext cx="162763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2B3441"/>
                </a:solidFill>
                <a:latin typeface="Aptos"/>
              </a:defRPr>
            </a:pPr>
            <a:r>
              <a:t>App reads or updates data.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80360" y="2880360"/>
            <a:ext cx="777240" cy="0"/>
          </a:xfrm>
          <a:prstGeom prst="line">
            <a:avLst/>
          </a:prstGeom>
          <a:ln w="2540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97880" y="2880360"/>
            <a:ext cx="777240" cy="0"/>
          </a:xfrm>
          <a:prstGeom prst="line">
            <a:avLst/>
          </a:prstGeom>
          <a:ln w="2540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86800" y="2880360"/>
            <a:ext cx="685800" cy="0"/>
          </a:xfrm>
          <a:prstGeom prst="line">
            <a:avLst/>
          </a:prstGeom>
          <a:ln w="2540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42519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2743"/>
                </a:solidFill>
                <a:latin typeface="Aptos"/>
              </a:defRPr>
            </a:pPr>
            <a:r>
              <a:t>Security 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2519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t>Identity and access permissions • Encryption • Backups •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637080"/>
                </a:solidFill>
                <a:latin typeface="Aptos"/>
              </a:defRPr>
            </a:pPr>
            <a:r>
              <a:t>The application uses an API, disk interface, or shared-file protocol depending on the storage 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62743"/>
                </a:solidFill>
                <a:latin typeface="Aptos"/>
              </a:defRPr>
            </a:pPr>
            <a:r>
              <a:t>4. Practical example: an online shopping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777240" cy="54864"/>
          </a:xfrm>
          <a:prstGeom prst="rect">
            <a:avLst/>
          </a:prstGeom>
          <a:solidFill>
            <a:srgbClr val="1C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37080"/>
                </a:solidFill>
                <a:latin typeface="Aptos"/>
              </a:defRPr>
            </a:pPr>
            <a:r>
              <a:t>One business can use all three storage types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370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52044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82296" cy="1828800"/>
          </a:xfrm>
          <a:prstGeom prst="rect">
            <a:avLst/>
          </a:prstGeom>
          <a:solidFill>
            <a:srgbClr val="1C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62743"/>
                </a:solidFill>
                <a:latin typeface="Aptos"/>
              </a:defRPr>
            </a:pPr>
            <a:r>
              <a:t>Product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31363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2B3441"/>
                </a:solidFill>
                <a:latin typeface="Aptos"/>
              </a:defRPr>
            </a:pPr>
            <a:r>
              <a:t>Object storage keeps product photos and promotional videos. It scales as the catalogue grows.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82296" cy="18288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62743"/>
                </a:solidFill>
                <a:latin typeface="Aptos"/>
              </a:defRPr>
            </a:pPr>
            <a:r>
              <a:t>Order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41448"/>
            <a:ext cx="31363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2B3441"/>
                </a:solidFill>
                <a:latin typeface="Aptos"/>
              </a:defRPr>
            </a:pPr>
            <a:r>
              <a:t>Block storage provides a disk for a database that needs reliable, low-latency reads and writes.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28800"/>
            <a:ext cx="352044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828800"/>
            <a:ext cx="82296" cy="1828800"/>
          </a:xfrm>
          <a:prstGeom prst="rect">
            <a:avLst/>
          </a:prstGeom>
          <a:solidFill>
            <a:srgbClr val="F2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9933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62743"/>
                </a:solidFill>
                <a:latin typeface="Aptos"/>
              </a:defRPr>
            </a:pPr>
            <a:r>
              <a:t>Shared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441448"/>
            <a:ext cx="31363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2B3441"/>
                </a:solidFill>
                <a:latin typeface="Aptos"/>
              </a:defRPr>
            </a:pPr>
            <a:r>
              <a:t>File storage lets staff share invoices, reports, and operational files through folders.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1">
                <a:solidFill>
                  <a:srgbClr val="162743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325112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C9691"/>
                </a:solidFill>
                <a:latin typeface="Aptos"/>
              </a:defRPr>
            </a:pPr>
            <a:r>
              <a:t>The company matches each kind of data to the storage system that fits its workload.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77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637080"/>
                </a:solidFill>
                <a:latin typeface="Aptos"/>
              </a:defRPr>
            </a:pPr>
            <a:r>
              <a:t>Industry relevance: e-commerce • media streaming • healthcare • education • enterprise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62743"/>
                </a:solidFill>
                <a:latin typeface="Aptos"/>
              </a:defRPr>
            </a:pPr>
            <a:r>
              <a:t>5. Quick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777240" cy="54864"/>
          </a:xfrm>
          <a:prstGeom prst="rect">
            <a:avLst/>
          </a:prstGeom>
          <a:solidFill>
            <a:srgbClr val="1C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37080"/>
                </a:solidFill>
                <a:latin typeface="Aptos"/>
              </a:defRPr>
            </a:pPr>
            <a:r>
              <a:t>Choose based on how the application uses its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370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057400" cy="53035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191109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783080"/>
            <a:ext cx="2606040" cy="530352"/>
          </a:xfrm>
          <a:prstGeom prst="roundRect">
            <a:avLst/>
          </a:prstGeom>
          <a:solidFill>
            <a:srgbClr val="1C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1920240"/>
            <a:ext cx="24597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OBJECT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783080"/>
            <a:ext cx="2606040" cy="530352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88152" y="1920240"/>
            <a:ext cx="24597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BLOCK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783080"/>
            <a:ext cx="2926080" cy="530352"/>
          </a:xfrm>
          <a:prstGeom prst="roundRect">
            <a:avLst/>
          </a:prstGeom>
          <a:solidFill>
            <a:srgbClr val="F2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31352" y="1920240"/>
            <a:ext cx="27797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50592"/>
            <a:ext cx="2057400" cy="585216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60604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62743"/>
                </a:solidFill>
                <a:latin typeface="Aptos"/>
              </a:defRPr>
            </a:pPr>
            <a:r>
              <a:t>How it looks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450592"/>
            <a:ext cx="2606040" cy="585216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0" y="260604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t>Objects +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2450592"/>
            <a:ext cx="2606040" cy="585216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6440" y="260604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t>Disk blocks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2450592"/>
            <a:ext cx="2926080" cy="585216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2606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t>Folders + files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163824"/>
            <a:ext cx="2057400" cy="585216"/>
          </a:xfrm>
          <a:prstGeom prst="roundRect">
            <a:avLst/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31927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62743"/>
                </a:solidFill>
                <a:latin typeface="Aptos"/>
              </a:defRPr>
            </a:pPr>
            <a:r>
              <a:t>Best fit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3163824"/>
            <a:ext cx="2606040" cy="585216"/>
          </a:xfrm>
          <a:prstGeom prst="roundRect">
            <a:avLst/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17520" y="3319272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t>Media, backups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0" y="3163824"/>
            <a:ext cx="2606040" cy="585216"/>
          </a:xfrm>
          <a:prstGeom prst="roundRect">
            <a:avLst/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06440" y="3319272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t>VMs, databases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3163824"/>
            <a:ext cx="2926080" cy="585216"/>
          </a:xfrm>
          <a:prstGeom prst="roundRect">
            <a:avLst/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49640" y="33192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t>Shared folders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877056"/>
            <a:ext cx="2057400" cy="585216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0325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62743"/>
                </a:solidFill>
                <a:latin typeface="Aptos"/>
              </a:defRPr>
            </a:pPr>
            <a:r>
              <a:t>Access style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3877056"/>
            <a:ext cx="2606040" cy="585216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17520" y="4032504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t>API / HTTP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3877056"/>
            <a:ext cx="2606040" cy="585216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06440" y="4032504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t>Disk interface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58200" y="3877056"/>
            <a:ext cx="2926080" cy="585216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49640" y="403250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t>File protocol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590288"/>
            <a:ext cx="2057400" cy="585216"/>
          </a:xfrm>
          <a:prstGeom prst="roundRect">
            <a:avLst/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4745736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62743"/>
                </a:solidFill>
                <a:latin typeface="Aptos"/>
              </a:defRPr>
            </a:pPr>
            <a:r>
              <a:t>Simple analogy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26080" y="4590288"/>
            <a:ext cx="2606040" cy="585216"/>
          </a:xfrm>
          <a:prstGeom prst="roundRect">
            <a:avLst/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17520" y="4745736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t>Parcel storage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15000" y="4590288"/>
            <a:ext cx="2606040" cy="585216"/>
          </a:xfrm>
          <a:prstGeom prst="roundRect">
            <a:avLst/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06440" y="4745736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t>Hard drive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58200" y="4590288"/>
            <a:ext cx="2926080" cy="585216"/>
          </a:xfrm>
          <a:prstGeom prst="roundRect">
            <a:avLst/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49640" y="474573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t>Office filing cabinet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7150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C9691"/>
                </a:solidFill>
                <a:latin typeface="Aptos"/>
              </a:defRPr>
            </a:pPr>
            <a:r>
              <a:t>There is no single best type: performance, cost, scale, and compatibility all matter.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6.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298448"/>
            <a:ext cx="822960" cy="54864"/>
          </a:xfrm>
          <a:prstGeom prst="rect">
            <a:avLst/>
          </a:prstGeom>
          <a:solidFill>
            <a:srgbClr val="1C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241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Cloud storage provides flexible, remotely accessible data storage.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Object storage is ideal for large unstructured content.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Block storage suits server disks and many databases.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File storage is useful when people or applications need folders and shared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663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1">
                <a:solidFill>
                  <a:srgbClr val="78DCD2"/>
                </a:solidFill>
                <a:latin typeface="Aptos"/>
              </a:defRPr>
            </a:pPr>
            <a:r>
              <a:t>Key takeaway: match the storage type to the workload.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</TotalTime>
  <Words>662</Words>
  <Application>Microsoft Office PowerPoint</Application>
  <PresentationFormat>Widescreen</PresentationFormat>
  <Paragraphs>87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Neue Haas Grotesk Text Pro</vt:lpstr>
      <vt:lpstr>Times New Roman</vt:lpstr>
      <vt:lpstr>Axis</vt:lpstr>
      <vt:lpstr>PowerPoint Presentation</vt:lpstr>
      <vt:lpstr>                                         TECHNICAL PRESENTATION                                     CLOUD STORAGE TECHNOLOGIES   CSA1516 -CLOUD COMPUTING AND BIG DATA  ANALYTICS   COURSE CODE: CSA1516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Vicky</dc:creator>
  <dc:description>generated using python-pptx</dc:description>
  <cp:lastModifiedBy>Vivek Vivek</cp:lastModifiedBy>
  <cp:revision>7</cp:revision>
  <dcterms:created xsi:type="dcterms:W3CDTF">2013-01-27T09:14:00Z</dcterms:created>
  <dcterms:modified xsi:type="dcterms:W3CDTF">2026-10-14T07:06:53Z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B7D0435CBB644BE7A017D436ABB66259_13</vt:lpwstr>
  </property>
</Properties>
</file>